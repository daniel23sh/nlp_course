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06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title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05840" y="77724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FINE-GRAINED RUBRIC SCORING FOR JUNIOR DEVELOPER PROJECT ANSWERS</a:t>
            </a:r>
            <a:endParaRPr lang="en-US" sz="1700" dirty="0"/>
          </a:p>
        </p:txBody>
      </p:sp>
      <p:sp>
        <p:nvSpPr>
          <p:cNvPr id="4" name="Shape 1"/>
          <p:cNvSpPr/>
          <p:nvPr/>
        </p:nvSpPr>
        <p:spPr>
          <a:xfrm>
            <a:off x="1874520" y="1307592"/>
            <a:ext cx="8458200" cy="1325880"/>
          </a:xfrm>
          <a:prstGeom prst="roundRect">
            <a:avLst>
              <a:gd name="adj" fmla="val 8966"/>
            </a:avLst>
          </a:prstGeom>
          <a:solidFill>
            <a:srgbClr val="FFFFFF">
              <a:alpha val="62000"/>
            </a:srgbClr>
          </a:solidFill>
          <a:ln w="15240">
            <a:solidFill>
              <a:srgbClr val="FFFFFF">
                <a:alpha val="5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2057400" y="1417320"/>
            <a:ext cx="8092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3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INTERVIEW</a:t>
            </a:r>
            <a:endParaRPr lang="en-US" sz="4300" dirty="0"/>
          </a:p>
          <a:p>
            <a:pPr algn="ctr" indent="0" marL="0">
              <a:buNone/>
            </a:pPr>
            <a:r>
              <a:rPr lang="en-US" sz="43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/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1097280" y="29718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Input: free-text interview answer  →  Output: six ordinal rubric scores + weak/strong aspects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521208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NLP / LLM Course Project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97280" y="5577840"/>
            <a:ext cx="9966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Presenters: Daniel Shatzov, Shai Gigi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&amp; Refined Project Definition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49808" y="1161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C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NLP task for interview-answer quality assessment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94944" y="1481328"/>
            <a:ext cx="2194560" cy="41148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00200"/>
            <a:ext cx="106984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interviews increasingly ask candidates to explain portfolio or course projects. The challenge is not only whether the answer is “good”, but which dimensions are strong or weak.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60120" y="2724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3063240"/>
            <a:ext cx="4343400" cy="1234440"/>
          </a:xfrm>
          <a:prstGeom prst="roundRect">
            <a:avLst>
              <a:gd name="adj" fmla="val 9630"/>
            </a:avLst>
          </a:prstGeom>
          <a:solidFill>
            <a:srgbClr val="071522">
              <a:alpha val="92000"/>
            </a:srgbClr>
          </a:solidFill>
          <a:ln w="15240">
            <a:solidFill>
              <a:srgbClr val="22D3EE">
                <a:alpha val="65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3328416"/>
            <a:ext cx="3886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Free-text answer to a junior developer project-experience question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051560" y="385876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“I reproduced the bug locally, checked the logs, and added validation tests.”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349240" y="3410712"/>
            <a:ext cx="822960" cy="502920"/>
          </a:xfrm>
          <a:prstGeom prst="rightArrow">
            <a:avLst/>
          </a:prstGeom>
          <a:solidFill>
            <a:srgbClr val="F6C453">
              <a:alpha val="95000"/>
            </a:srgbClr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27249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217920" y="3063240"/>
            <a:ext cx="5166360" cy="1234440"/>
          </a:xfrm>
          <a:prstGeom prst="roundRect">
            <a:avLst>
              <a:gd name="adj" fmla="val 9630"/>
            </a:avLst>
          </a:prstGeom>
          <a:solidFill>
            <a:srgbClr val="071522">
              <a:alpha val="92000"/>
            </a:srgbClr>
          </a:solidFill>
          <a:ln w="15240">
            <a:solidFill>
              <a:srgbClr val="F6C453">
                <a:alpha val="6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324612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ordinal rubric scores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 weak/strong aspect labels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446520" y="3922776"/>
            <a:ext cx="4709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depth | personal contribution | clarity | problem solving | impact | role relevance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1097280" y="4864608"/>
            <a:ext cx="9966960" cy="868680"/>
          </a:xfrm>
          <a:prstGeom prst="roundRect">
            <a:avLst>
              <a:gd name="adj" fmla="val 13684"/>
            </a:avLst>
          </a:prstGeom>
          <a:solidFill>
            <a:srgbClr val="0E243A">
              <a:alpha val="78000"/>
            </a:srgbClr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353312" y="5102352"/>
            <a:ext cx="9464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Modeling angle: compare simple baselines, classical ML, off-the-shelf LLM prompting, and a supervised DistilBERT encoder trained on synthetic data.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502920" y="657453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Interview Answer Scoring  |  official_v1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Data, Models, Metrics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49808" y="1161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C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official_v1: controlled synthetic data + project-team reviewed evaluation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94944" y="1481328"/>
            <a:ext cx="2194560" cy="41148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4592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68680" y="1993392"/>
            <a:ext cx="384048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558 accepted synthetic records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265 train examples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225 reviewed evaluation examples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Dev/Test/OOD: 64 / 106 / 55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0 duplicate answers; 0 train-test leakage</a:t>
            </a:r>
            <a:endParaRPr lang="en-US" sz="142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950208"/>
            <a:ext cx="37490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Majority baseline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TF-IDF logistic regression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Zero-shot and few-shot LLM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DistilBERT supervised encoder</a:t>
            </a:r>
            <a:endParaRPr lang="en-US" sz="1420" dirty="0"/>
          </a:p>
        </p:txBody>
      </p:sp>
      <p:sp>
        <p:nvSpPr>
          <p:cNvPr id="10" name="Text 7"/>
          <p:cNvSpPr/>
          <p:nvPr/>
        </p:nvSpPr>
        <p:spPr>
          <a:xfrm>
            <a:off x="777240" y="513892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68680" y="54681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accuracy • Low/Mid/High F1 • MAE • Weak F1 • OOD drop • Error analysis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020056" y="1636776"/>
            <a:ext cx="6373368" cy="3675888"/>
          </a:xfrm>
          <a:prstGeom prst="roundRect">
            <a:avLst>
              <a:gd name="adj" fmla="val 3234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13" name="Image 1" descr="/mnt/data/dataset_split_cou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859" y="1691640"/>
            <a:ext cx="5913762" cy="35661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85800" y="614476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evaluation uses project-team reviewed dev/test/OOD labels, not external expert annotations.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2920" y="657453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Interview Answer Scoring  |  official_v1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Achievements and Novelty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49808" y="1161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C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contribution is the task + data methodology + evaluation design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94944" y="1481328"/>
            <a:ext cx="2194560" cy="41148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682496"/>
            <a:ext cx="10652760" cy="2596896"/>
          </a:xfrm>
          <a:prstGeom prst="roundRect">
            <a:avLst>
              <a:gd name="adj" fmla="val 4577"/>
            </a:avLst>
          </a:prstGeom>
          <a:solidFill>
            <a:srgbClr val="071522">
              <a:alpha val="93000"/>
            </a:srgbClr>
          </a:solidFill>
          <a:ln w="15240">
            <a:solidFill>
              <a:srgbClr val="FFFFFF">
                <a:alpha val="62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90195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ACHIEVEMENTS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000" y="2249424"/>
            <a:ext cx="996696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Defined a six-aspect ordinal scoring task for junior project-answer quality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Built a controlled synthetic dataset with label-after-generation scoring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Created project-team reviewed dev/test/OOD evaluation splits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Compared majority, TF-IDF, zero-shot LLM, few-shot LLM, and a supervised encoder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Added reproducible error analysis and final visualizations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25296" y="48006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NOVELTY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2880360" y="4745736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 new neural architecture — a more precise NLP framing of interview answer quality, with controlled synthetic labels, validation, OOD evaluation, and error insight.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13232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✦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502920" y="657453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Interview Answer Scoring  |  official_v1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content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Methodology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49808" y="1161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C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Label-after-generation: score what the answer actually says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94944" y="1481328"/>
            <a:ext cx="2194560" cy="41148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572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PROFILE  →  ANSWER  →  RUBRIC LABELER  →  VALIDATOR  →  REVIEWED SPLITS  →  MODELS  →  ERROR ANALYSIS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938528" y="3017520"/>
            <a:ext cx="237744" cy="228600"/>
          </a:xfrm>
          <a:prstGeom prst="rightArrow">
            <a:avLst/>
          </a:prstGeom>
          <a:solidFill>
            <a:srgbClr val="F6C453">
              <a:alpha val="90000"/>
            </a:srgbClr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584448" y="3017520"/>
            <a:ext cx="237744" cy="228600"/>
          </a:xfrm>
          <a:prstGeom prst="rightArrow">
            <a:avLst/>
          </a:prstGeom>
          <a:solidFill>
            <a:srgbClr val="F6C453">
              <a:alpha val="90000"/>
            </a:srgbClr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30368" y="3017520"/>
            <a:ext cx="237744" cy="228600"/>
          </a:xfrm>
          <a:prstGeom prst="rightArrow">
            <a:avLst/>
          </a:prstGeom>
          <a:solidFill>
            <a:srgbClr val="F6C453">
              <a:alpha val="90000"/>
            </a:srgbClr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76288" y="3017520"/>
            <a:ext cx="237744" cy="228600"/>
          </a:xfrm>
          <a:prstGeom prst="rightArrow">
            <a:avLst/>
          </a:prstGeom>
          <a:solidFill>
            <a:srgbClr val="F6C453">
              <a:alpha val="90000"/>
            </a:srgbClr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522208" y="3017520"/>
            <a:ext cx="237744" cy="228600"/>
          </a:xfrm>
          <a:prstGeom prst="rightArrow">
            <a:avLst/>
          </a:prstGeom>
          <a:solidFill>
            <a:srgbClr val="F6C453">
              <a:alpha val="90000"/>
            </a:srgbClr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168128" y="3017520"/>
            <a:ext cx="237744" cy="228600"/>
          </a:xfrm>
          <a:prstGeom prst="rightArrow">
            <a:avLst/>
          </a:prstGeom>
          <a:solidFill>
            <a:srgbClr val="F6C453">
              <a:alpha val="90000"/>
            </a:srgbClr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94360" y="2743200"/>
            <a:ext cx="1298448" cy="822960"/>
          </a:xfrm>
          <a:prstGeom prst="roundRect">
            <a:avLst>
              <a:gd name="adj" fmla="val 14444"/>
            </a:avLst>
          </a:prstGeom>
          <a:solidFill>
            <a:srgbClr val="0E243A">
              <a:alpha val="94000"/>
            </a:srgbClr>
          </a:solidFill>
          <a:ln w="15240">
            <a:solidFill>
              <a:srgbClr val="22D3EE">
                <a:alpha val="76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" y="2916936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Profile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</a:t>
            </a:r>
            <a:endParaRPr lang="en-US" sz="1020" dirty="0"/>
          </a:p>
        </p:txBody>
      </p:sp>
      <p:sp>
        <p:nvSpPr>
          <p:cNvPr id="15" name="Shape 12"/>
          <p:cNvSpPr/>
          <p:nvPr/>
        </p:nvSpPr>
        <p:spPr>
          <a:xfrm>
            <a:off x="2240280" y="2743200"/>
            <a:ext cx="1298448" cy="822960"/>
          </a:xfrm>
          <a:prstGeom prst="roundRect">
            <a:avLst>
              <a:gd name="adj" fmla="val 14444"/>
            </a:avLst>
          </a:prstGeom>
          <a:solidFill>
            <a:srgbClr val="0E243A">
              <a:alpha val="94000"/>
            </a:srgbClr>
          </a:solidFill>
          <a:ln w="15240">
            <a:solidFill>
              <a:srgbClr val="22D3EE">
                <a:alpha val="76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350008" y="2916936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Generate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3886200" y="2743200"/>
            <a:ext cx="1298448" cy="822960"/>
          </a:xfrm>
          <a:prstGeom prst="roundRect">
            <a:avLst>
              <a:gd name="adj" fmla="val 14444"/>
            </a:avLst>
          </a:prstGeom>
          <a:solidFill>
            <a:srgbClr val="0E243A">
              <a:alpha val="94000"/>
            </a:srgbClr>
          </a:solidFill>
          <a:ln w="15240">
            <a:solidFill>
              <a:srgbClr val="22D3EE">
                <a:alpha val="76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995928" y="2916936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Rubric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labeler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5532120" y="2743200"/>
            <a:ext cx="1298448" cy="822960"/>
          </a:xfrm>
          <a:prstGeom prst="roundRect">
            <a:avLst>
              <a:gd name="adj" fmla="val 14444"/>
            </a:avLst>
          </a:prstGeom>
          <a:solidFill>
            <a:srgbClr val="0E243A">
              <a:alpha val="94000"/>
            </a:srgbClr>
          </a:solidFill>
          <a:ln w="15240">
            <a:solidFill>
              <a:srgbClr val="F6C453">
                <a:alpha val="76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41848" y="2916936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 Independent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7178040" y="2743200"/>
            <a:ext cx="1298448" cy="822960"/>
          </a:xfrm>
          <a:prstGeom prst="roundRect">
            <a:avLst>
              <a:gd name="adj" fmla="val 14444"/>
            </a:avLst>
          </a:prstGeom>
          <a:solidFill>
            <a:srgbClr val="0E243A">
              <a:alpha val="94000"/>
            </a:srgbClr>
          </a:solidFill>
          <a:ln w="15240">
            <a:solidFill>
              <a:srgbClr val="22D3EE">
                <a:alpha val="76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287768" y="2916936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 Reviewed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dev/test/OOD</a:t>
            </a:r>
            <a:endParaRPr lang="en-US" sz="1020" dirty="0"/>
          </a:p>
        </p:txBody>
      </p:sp>
      <p:sp>
        <p:nvSpPr>
          <p:cNvPr id="23" name="Shape 20"/>
          <p:cNvSpPr/>
          <p:nvPr/>
        </p:nvSpPr>
        <p:spPr>
          <a:xfrm>
            <a:off x="8823960" y="2743200"/>
            <a:ext cx="1298448" cy="822960"/>
          </a:xfrm>
          <a:prstGeom prst="roundRect">
            <a:avLst>
              <a:gd name="adj" fmla="val 14444"/>
            </a:avLst>
          </a:prstGeom>
          <a:solidFill>
            <a:srgbClr val="0E243A">
              <a:alpha val="94000"/>
            </a:srgbClr>
          </a:solidFill>
          <a:ln w="15240">
            <a:solidFill>
              <a:srgbClr val="22D3EE">
                <a:alpha val="76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33688" y="2916936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 Model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10469880" y="2743200"/>
            <a:ext cx="1298448" cy="822960"/>
          </a:xfrm>
          <a:prstGeom prst="roundRect">
            <a:avLst>
              <a:gd name="adj" fmla="val 14444"/>
            </a:avLst>
          </a:prstGeom>
          <a:solidFill>
            <a:srgbClr val="0E243A">
              <a:alpha val="94000"/>
            </a:srgbClr>
          </a:solidFill>
          <a:ln w="15240">
            <a:solidFill>
              <a:srgbClr val="22D3EE">
                <a:alpha val="76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579608" y="2916936"/>
            <a:ext cx="10789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 Error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1020" dirty="0"/>
          </a:p>
        </p:txBody>
      </p:sp>
      <p:sp>
        <p:nvSpPr>
          <p:cNvPr id="27" name="Shape 24"/>
          <p:cNvSpPr/>
          <p:nvPr/>
        </p:nvSpPr>
        <p:spPr>
          <a:xfrm>
            <a:off x="1143000" y="4608576"/>
            <a:ext cx="9921240" cy="868680"/>
          </a:xfrm>
          <a:prstGeom prst="roundRect">
            <a:avLst>
              <a:gd name="adj" fmla="val 13684"/>
            </a:avLst>
          </a:prstGeom>
          <a:solidFill>
            <a:srgbClr val="071522">
              <a:alpha val="88000"/>
            </a:srgbClr>
          </a:solidFill>
          <a:ln w="1524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417320" y="4828032"/>
            <a:ext cx="9372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control: rejected/profile-mismatch routing, evidence checks, score-delta checks, derived weak/strong validation, duplicate checks, and grouped leakage-safe splits.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02920" y="657453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Interview Answer Scoring  |  official_v1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title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49808" y="1161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C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free-text interview answer becomes structured rubric feedback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94944" y="1481328"/>
            <a:ext cx="2194560" cy="41148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572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CANDIDATE ANSWER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" y="1920240"/>
            <a:ext cx="4617720" cy="3429000"/>
          </a:xfrm>
          <a:prstGeom prst="roundRect">
            <a:avLst>
              <a:gd name="adj" fmla="val 3467"/>
            </a:avLst>
          </a:prstGeom>
          <a:solidFill>
            <a:srgbClr val="071522">
              <a:alpha val="92000"/>
            </a:srgbClr>
          </a:solidFill>
          <a:ln w="15240">
            <a:solidFill>
              <a:srgbClr val="22D3EE">
                <a:alpha val="75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240280"/>
            <a:ext cx="4069080" cy="22860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 worked on a small backend API for a course project. Some requests failed because payload validation was inconsistent, so I reproduced the bug locally, checked the logs, and added validation tests. After the fix, the demo requests passed reliably.”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0120" y="480060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describe a project where you had to debug a difficult issue.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440680" y="3246120"/>
            <a:ext cx="685800" cy="457200"/>
          </a:xfrm>
          <a:prstGeom prst="rightArrow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46520" y="1572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OUTPUT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355080" y="1920240"/>
            <a:ext cx="5120640" cy="3429000"/>
          </a:xfrm>
          <a:prstGeom prst="roundRect">
            <a:avLst>
              <a:gd name="adj" fmla="val 3467"/>
            </a:avLst>
          </a:prstGeom>
          <a:solidFill>
            <a:srgbClr val="071522">
              <a:alpha val="92000"/>
            </a:srgbClr>
          </a:solidFill>
          <a:ln w="15240">
            <a:solidFill>
              <a:srgbClr val="F6C453">
                <a:alpha val="75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629400" y="2240280"/>
            <a:ext cx="2057400" cy="502920"/>
          </a:xfrm>
          <a:prstGeom prst="roundRect">
            <a:avLst>
              <a:gd name="adj" fmla="val 23636"/>
            </a:avLst>
          </a:prstGeom>
          <a:solidFill>
            <a:srgbClr val="0E243A">
              <a:alpha val="95000"/>
            </a:srgbClr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02552" y="23042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900" dirty="0"/>
          </a:p>
        </p:txBody>
      </p:sp>
      <p:sp>
        <p:nvSpPr>
          <p:cNvPr id="15" name="Text 12"/>
          <p:cNvSpPr/>
          <p:nvPr/>
        </p:nvSpPr>
        <p:spPr>
          <a:xfrm>
            <a:off x="7159752" y="23682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technical_depth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8961120" y="2240280"/>
            <a:ext cx="2057400" cy="502920"/>
          </a:xfrm>
          <a:prstGeom prst="roundRect">
            <a:avLst>
              <a:gd name="adj" fmla="val 23636"/>
            </a:avLst>
          </a:prstGeom>
          <a:solidFill>
            <a:srgbClr val="0E243A">
              <a:alpha val="95000"/>
            </a:srgbClr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034272" y="2304288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900" dirty="0"/>
          </a:p>
        </p:txBody>
      </p:sp>
      <p:sp>
        <p:nvSpPr>
          <p:cNvPr id="18" name="Text 15"/>
          <p:cNvSpPr/>
          <p:nvPr/>
        </p:nvSpPr>
        <p:spPr>
          <a:xfrm>
            <a:off x="9491472" y="23682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personal_contribution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629400" y="2953512"/>
            <a:ext cx="2057400" cy="502920"/>
          </a:xfrm>
          <a:prstGeom prst="roundRect">
            <a:avLst>
              <a:gd name="adj" fmla="val 23636"/>
            </a:avLst>
          </a:prstGeom>
          <a:solidFill>
            <a:srgbClr val="0E243A">
              <a:alpha val="95000"/>
            </a:srgbClr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02552" y="3017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7159752" y="30815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clarity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8961120" y="2953512"/>
            <a:ext cx="2057400" cy="502920"/>
          </a:xfrm>
          <a:prstGeom prst="roundRect">
            <a:avLst>
              <a:gd name="adj" fmla="val 23636"/>
            </a:avLst>
          </a:prstGeom>
          <a:solidFill>
            <a:srgbClr val="0E243A">
              <a:alpha val="95000"/>
            </a:srgbClr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034272" y="30175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900" dirty="0"/>
          </a:p>
        </p:txBody>
      </p:sp>
      <p:sp>
        <p:nvSpPr>
          <p:cNvPr id="24" name="Text 21"/>
          <p:cNvSpPr/>
          <p:nvPr/>
        </p:nvSpPr>
        <p:spPr>
          <a:xfrm>
            <a:off x="9491472" y="308152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problem_solving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6629400" y="3666744"/>
            <a:ext cx="2057400" cy="502920"/>
          </a:xfrm>
          <a:prstGeom prst="roundRect">
            <a:avLst>
              <a:gd name="adj" fmla="val 23636"/>
            </a:avLst>
          </a:prstGeom>
          <a:solidFill>
            <a:srgbClr val="0E243A">
              <a:alpha val="95000"/>
            </a:srgbClr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702552" y="37307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900" dirty="0"/>
          </a:p>
        </p:txBody>
      </p:sp>
      <p:sp>
        <p:nvSpPr>
          <p:cNvPr id="27" name="Text 24"/>
          <p:cNvSpPr/>
          <p:nvPr/>
        </p:nvSpPr>
        <p:spPr>
          <a:xfrm>
            <a:off x="7159752" y="37947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961120" y="3666744"/>
            <a:ext cx="2057400" cy="502920"/>
          </a:xfrm>
          <a:prstGeom prst="roundRect">
            <a:avLst>
              <a:gd name="adj" fmla="val 23636"/>
            </a:avLst>
          </a:prstGeom>
          <a:solidFill>
            <a:srgbClr val="0E243A">
              <a:alpha val="95000"/>
            </a:srgbClr>
          </a:solidFill>
          <a:ln w="1524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034272" y="3730752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1900" dirty="0"/>
          </a:p>
        </p:txBody>
      </p:sp>
      <p:sp>
        <p:nvSpPr>
          <p:cNvPr id="30" name="Text 27"/>
          <p:cNvSpPr/>
          <p:nvPr/>
        </p:nvSpPr>
        <p:spPr>
          <a:xfrm>
            <a:off x="9491472" y="379476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role_relevance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6629400" y="45720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weak_aspects:  [ 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strong_aspects: technical_depth, personal_contribution, clarity, problem_solving, role_relevance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914400" y="5989320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EC4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Scores are ordinal labels: exact adjacent boundaries can be subjective.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02920" y="657453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Interview Answer Scoring  |  official_v1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results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49808" y="1161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C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comparison on reviewed dev/test/OOD splits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94944" y="1481328"/>
            <a:ext cx="2194560" cy="41148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03504" y="1636776"/>
            <a:ext cx="7013448" cy="3950208"/>
          </a:xfrm>
          <a:prstGeom prst="roundRect">
            <a:avLst>
              <a:gd name="adj" fmla="val 3009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7" name="Image 1" descr="/mnt/data/model_comparison_mean_ex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25830"/>
            <a:ext cx="6903720" cy="377210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01000" y="16276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CHART SHOWS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001000" y="2057400"/>
            <a:ext cx="3063240" cy="868680"/>
          </a:xfrm>
          <a:prstGeom prst="roundRect">
            <a:avLst>
              <a:gd name="adj" fmla="val 13684"/>
            </a:avLst>
          </a:prstGeom>
          <a:solidFill>
            <a:srgbClr val="0E243A">
              <a:alpha val="90000"/>
            </a:srgbClr>
          </a:solidFill>
          <a:ln w="1524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110728" y="2157984"/>
            <a:ext cx="2843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22D3E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0.6777</a:t>
            </a:r>
            <a:endParaRPr lang="en-US" sz="2300" dirty="0"/>
          </a:p>
        </p:txBody>
      </p:sp>
      <p:sp>
        <p:nvSpPr>
          <p:cNvPr id="11" name="Text 7"/>
          <p:cNvSpPr/>
          <p:nvPr/>
        </p:nvSpPr>
        <p:spPr>
          <a:xfrm>
            <a:off x="8110728" y="253288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 reviewed test exact accuracy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8001000" y="3063240"/>
            <a:ext cx="3063240" cy="868680"/>
          </a:xfrm>
          <a:prstGeom prst="roundRect">
            <a:avLst>
              <a:gd name="adj" fmla="val 13684"/>
            </a:avLst>
          </a:prstGeom>
          <a:solidFill>
            <a:srgbClr val="0E243A">
              <a:alpha val="90000"/>
            </a:srgbClr>
          </a:solidFill>
          <a:ln w="1524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110728" y="3163824"/>
            <a:ext cx="2843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0.6121</a:t>
            </a:r>
            <a:endParaRPr lang="en-US" sz="2300" dirty="0"/>
          </a:p>
        </p:txBody>
      </p:sp>
      <p:sp>
        <p:nvSpPr>
          <p:cNvPr id="14" name="Text 10"/>
          <p:cNvSpPr/>
          <p:nvPr/>
        </p:nvSpPr>
        <p:spPr>
          <a:xfrm>
            <a:off x="8110728" y="353872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Zero-shot LLM OOD exact accuracy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01000" y="4069080"/>
            <a:ext cx="3063240" cy="868680"/>
          </a:xfrm>
          <a:prstGeom prst="roundRect">
            <a:avLst>
              <a:gd name="adj" fmla="val 13684"/>
            </a:avLst>
          </a:prstGeom>
          <a:solidFill>
            <a:srgbClr val="0E243A">
              <a:alpha val="90000"/>
            </a:srgbClr>
          </a:solidFill>
          <a:ln w="15240">
            <a:solidFill>
              <a:srgbClr val="22D3EE">
                <a:alpha val="6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110728" y="4169664"/>
            <a:ext cx="2843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EF6B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0.2879</a:t>
            </a:r>
            <a:endParaRPr lang="en-US" sz="2300" dirty="0"/>
          </a:p>
        </p:txBody>
      </p:sp>
      <p:sp>
        <p:nvSpPr>
          <p:cNvPr id="17" name="Text 13"/>
          <p:cNvSpPr/>
          <p:nvPr/>
        </p:nvSpPr>
        <p:spPr>
          <a:xfrm>
            <a:off x="8110728" y="454456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Encoder OOD exact accuracy</a:t>
            </a:r>
            <a:endParaRPr lang="en-US" sz="950" dirty="0"/>
          </a:p>
        </p:txBody>
      </p:sp>
      <p:sp>
        <p:nvSpPr>
          <p:cNvPr id="18" name="Text 14"/>
          <p:cNvSpPr/>
          <p:nvPr/>
        </p:nvSpPr>
        <p:spPr>
          <a:xfrm>
            <a:off x="7863840" y="5230368"/>
            <a:ext cx="3383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interpretation: the encoder learns the regular test distribution, but zero-shot LLM is more robust under OOD shift.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502920" y="657453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Interview Answer Scoring  |  official_v1</a:t>
            </a:r>
            <a:endParaRPr lang="en-US" sz="750" dirty="0"/>
          </a:p>
        </p:txBody>
      </p:sp>
      <p:sp>
        <p:nvSpPr>
          <p:cNvPr id="20" name="Text 16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results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Beyond Exact Accuracy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49808" y="1161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C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Ordinal distance and weak-aspect detection tell a richer story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94944" y="1481328"/>
            <a:ext cx="2194560" cy="41148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9496" y="1453896"/>
            <a:ext cx="5550408" cy="3401568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7" name="Image 1" descr="/mnt/data/weak_aspect_f1_by_mod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68322"/>
            <a:ext cx="5440680" cy="297271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08776" y="1453896"/>
            <a:ext cx="5550408" cy="3401568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9" name="Image 2" descr="/mnt/data/model_comparison_ma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68322"/>
            <a:ext cx="5440680" cy="297271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96112" y="5230368"/>
            <a:ext cx="10469880" cy="658368"/>
          </a:xfrm>
          <a:prstGeom prst="roundRect">
            <a:avLst>
              <a:gd name="adj" fmla="val 18056"/>
            </a:avLst>
          </a:prstGeom>
          <a:solidFill>
            <a:srgbClr val="071522">
              <a:alpha val="91000"/>
            </a:srgbClr>
          </a:solidFill>
          <a:ln w="15240">
            <a:solidFill>
              <a:srgbClr val="F6C453">
                <a:alpha val="6500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3000" y="542239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Weak-aspect F1 stays high for the encoder across dev/test/OOD (~0.89). MAE shows that many mistakes are near-boundary ordinal errors rather than severe jumps.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85800" y="614476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MAE: lower is better. Weak aspect = score &lt;= 2.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502920" y="657453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Interview Answer Scoring  |  official_v1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results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Analysis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49808" y="1161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C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OOD drop and aspect-level failures explain where the encoder breaks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94944" y="1481328"/>
            <a:ext cx="2194560" cy="41148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9496" y="1609344"/>
            <a:ext cx="5458968" cy="3081528"/>
          </a:xfrm>
          <a:prstGeom prst="roundRect">
            <a:avLst>
              <a:gd name="adj" fmla="val 3858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7" name="Image 1" descr="/mnt/data/ood_drop_by_mod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88731"/>
            <a:ext cx="5349240" cy="292275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208776" y="1609344"/>
            <a:ext cx="5458968" cy="3081528"/>
          </a:xfrm>
          <a:prstGeom prst="roundRect">
            <a:avLst>
              <a:gd name="adj" fmla="val 3858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9" name="Image 2" descr="/mnt/data/encoder_per_aspect_erro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88731"/>
            <a:ext cx="5349240" cy="292275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896112" y="5074920"/>
            <a:ext cx="10469880" cy="1005840"/>
          </a:xfrm>
          <a:prstGeom prst="roundRect">
            <a:avLst>
              <a:gd name="adj" fmla="val 11818"/>
            </a:avLst>
          </a:prstGeom>
          <a:solidFill>
            <a:srgbClr val="071522">
              <a:alpha val="90000"/>
            </a:srgbClr>
          </a:solidFill>
          <a:ln w="15240">
            <a:solidFill>
              <a:srgbClr val="FFFFFF">
                <a:alpha val="4500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1143000" y="5266944"/>
            <a:ext cx="99669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Largest OOD exact-accuracy delta: encoder (-0.3898)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Hard aspects by MAE: role_relevance, technical_depth, clarity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Bias patterns: role_relevance overpredicted; clarity and impact underpredicted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Top errors are often one-score boundary mistakes across multiple aspects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02920" y="657453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Interview Answer Scoring  |  official_v1</a:t>
            </a:r>
            <a:endParaRPr lang="en-US" sz="750" dirty="0"/>
          </a:p>
        </p:txBody>
      </p:sp>
      <p:sp>
        <p:nvSpPr>
          <p:cNvPr id="13" name="Text 8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5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g_title_dark.png">    </p:cNvPr>
          <p:cNvPicPr>
            <a:picLocks noChangeAspect="1"/>
          </p:cNvPicPr>
          <p:nvPr/>
        </p:nvPicPr>
        <p:blipFill>
          <a:blip r:embed="rId1"/>
          <a:srcRect l="0" r="0" t="25" b="25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41148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749808" y="11612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6C4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 NLP experiment: task, synthetic data, model comparison, OOD, and error analysis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94944" y="1481328"/>
            <a:ext cx="2194560" cy="41148"/>
          </a:xfrm>
          <a:prstGeom prst="rect">
            <a:avLst/>
          </a:prstGeom>
          <a:solidFill>
            <a:srgbClr val="F6C453"/>
          </a:solidFill>
          <a:ln w="12700">
            <a:solidFill>
              <a:srgbClr val="F6C453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31520" y="1572768"/>
            <a:ext cx="10744200" cy="2194560"/>
          </a:xfrm>
          <a:prstGeom prst="roundRect">
            <a:avLst>
              <a:gd name="adj" fmla="val 5417"/>
            </a:avLst>
          </a:prstGeom>
          <a:solidFill>
            <a:srgbClr val="071522">
              <a:alpha val="92000"/>
            </a:srgbClr>
          </a:solidFill>
          <a:ln w="1524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5156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ACHIEVED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43000" y="2212848"/>
            <a:ext cx="45720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Defined a novel fine-grained interview-answer scoring task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Generated and validated official_v1 synthetic data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Compared five model families and documented results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Added OOD and error analysis to explain model behavior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26364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LEARNED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355080" y="2212848"/>
            <a:ext cx="466344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Encoder is competitive on reviewed test data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Zero-shot LLM generalizes better to OOD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Weak-aspect detection is the most robust signal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rgbClr val="F7FA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Exact 1-5 scoring remains subjective and difficult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14400" y="44622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C4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takeaway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14400" y="489204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Controlled synthetic data can train useful baselines, but only model comparison + OOD evaluation + error analysis reveal whether the system truly generalizes.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914400" y="5870448"/>
            <a:ext cx="10241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caveat: this is a course-level NLP evaluation project, not a production hiring decision system.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02920" y="6574536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Junior Interview Answer Scoring  |  official_v1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475720" y="650138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7B7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Junior Interview Answer Scoring</dc:title>
  <dc:subject>Junior Interview Answer Scoring final presentation</dc:subject>
  <dc:creator>OpenAI</dc:creator>
  <cp:lastModifiedBy>OpenAI</cp:lastModifiedBy>
  <cp:revision>1</cp:revision>
  <dcterms:created xsi:type="dcterms:W3CDTF">2026-06-08T13:51:53Z</dcterms:created>
  <dcterms:modified xsi:type="dcterms:W3CDTF">2026-06-08T13:51:53Z</dcterms:modified>
</cp:coreProperties>
</file>